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1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3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3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1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6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55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5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0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6183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24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420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80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64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6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70CF-A167-42DF-A602-3020EF1D754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43DB1B4-687F-4213-A07F-804E98B11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9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C3C7-5342-5020-3F73-506A1E613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0" i="0" u="none" strike="noStrike" dirty="0">
                <a:effectLst/>
                <a:latin typeface="Arial" panose="020B0604020202020204" pitchFamily="34" charset="0"/>
              </a:rPr>
              <a:t>Design Pattern in OOPs </a:t>
            </a:r>
            <a:br>
              <a:rPr lang="en-US" sz="5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5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3FFF3-DF6A-9DA1-1893-6C3FAB4BA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RAIHAN ISLAM</a:t>
            </a:r>
          </a:p>
        </p:txBody>
      </p:sp>
    </p:spTree>
    <p:extLst>
      <p:ext uri="{BB962C8B-B14F-4D97-AF65-F5344CB8AC3E}">
        <p14:creationId xmlns:p14="http://schemas.microsoft.com/office/powerpoint/2010/main" val="282308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5A8F-EAD1-84FF-B936-5D69C6E7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06B4-B700-3EA6-4391-376398875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657" y="337458"/>
            <a:ext cx="5519057" cy="84908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</a:rPr>
              <a:t>A. Singleton Pattern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BC203-AB81-A69B-642C-0E6B129F1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15143"/>
            <a:ext cx="9144000" cy="3842657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The Singleton Pattern is a creational design pattern that ensures a class has only one instance and provides a global point of access to that instance. </a:t>
            </a:r>
          </a:p>
          <a:p>
            <a:pPr algn="l"/>
            <a:endParaRPr lang="en-US" sz="2400" dirty="0"/>
          </a:p>
          <a:p>
            <a:pPr algn="l"/>
            <a:r>
              <a:rPr lang="en-US" sz="2800" dirty="0"/>
              <a:t>Used in Data Base connections, logger system, Configuration managers, caching or session manager which reliable base on cache in server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1811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32AE-0407-95FE-C86F-292AD163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595B-7A14-E1BC-7B85-CC0297DD4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7" y="348344"/>
            <a:ext cx="4408714" cy="84908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</a:rPr>
              <a:t> Factory Pattern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1CE37-51DC-BFF9-5E52-2F6642426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6257" y="1643743"/>
            <a:ext cx="9013371" cy="3526971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Creates objects without exposing creation logic</a:t>
            </a:r>
          </a:p>
          <a:p>
            <a:pPr algn="l"/>
            <a:r>
              <a:rPr lang="en-US" sz="2000" dirty="0"/>
              <a:t>(what is exposing creation logic is : refers to a software design anti-pattern where the client code , is directly responsible for knowing the exact class to instantiate and how to initialize it.)</a:t>
            </a:r>
          </a:p>
          <a:p>
            <a:pPr algn="l"/>
            <a:r>
              <a:rPr lang="en-US" sz="2800" dirty="0"/>
              <a:t>It Used in payment systems, notifications, UI widgets</a:t>
            </a:r>
          </a:p>
          <a:p>
            <a:pPr algn="l"/>
            <a:r>
              <a:rPr lang="en-US" sz="2000" dirty="0"/>
              <a:t>(like: </a:t>
            </a:r>
            <a:r>
              <a:rPr lang="en-US" sz="2000" dirty="0" err="1"/>
              <a:t>Nogad</a:t>
            </a:r>
            <a:r>
              <a:rPr lang="en-US" sz="2000" dirty="0"/>
              <a:t>, </a:t>
            </a:r>
            <a:r>
              <a:rPr lang="en-US" sz="2000" dirty="0" err="1"/>
              <a:t>Bkas</a:t>
            </a:r>
            <a:r>
              <a:rPr lang="en-US" sz="2000" dirty="0"/>
              <a:t>, </a:t>
            </a:r>
            <a:r>
              <a:rPr lang="en-US" sz="2000" dirty="0" err="1"/>
              <a:t>Paypal</a:t>
            </a:r>
            <a:r>
              <a:rPr lang="en-US" sz="2000" dirty="0"/>
              <a:t>)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5086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D73E-13A5-6D51-D717-6DB31FD5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DC47-D41C-F7BB-28A8-AF4CD0C97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348344"/>
            <a:ext cx="3886200" cy="84908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</a:rPr>
              <a:t>Builder Pattern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2015B-4746-62B4-A7FB-3A035BCC4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970" y="1197430"/>
            <a:ext cx="9046029" cy="3396342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4400" b="0" dirty="0">
              <a:solidFill>
                <a:srgbClr val="C4C7C5"/>
              </a:solidFill>
              <a:effectLst/>
              <a:latin typeface="Google Sans Flex"/>
            </a:endParaRPr>
          </a:p>
          <a:p>
            <a:pPr algn="l" rtl="0"/>
            <a:r>
              <a:rPr lang="en-US" sz="3400" i="0" dirty="0">
                <a:solidFill>
                  <a:srgbClr val="E3E3E3"/>
                </a:solidFill>
                <a:effectLst/>
                <a:latin typeface="Google Sans Flex"/>
              </a:rPr>
              <a:t>The Builder Pattern is a creational design pattern that helps you construct complex objects step by step. It's primarily used to solve the problem of telescoping constructors (constructors with a growing number of optional parameters) and to hide the creation logic of a complex object from the client code.</a:t>
            </a:r>
          </a:p>
          <a:p>
            <a:endParaRPr lang="en-US" sz="2800" dirty="0"/>
          </a:p>
          <a:p>
            <a:pPr algn="l"/>
            <a:r>
              <a:rPr lang="en-US" sz="2600" dirty="0"/>
              <a:t>Use case of Real life: </a:t>
            </a:r>
            <a:r>
              <a:rPr lang="fr-FR" sz="2600" dirty="0"/>
              <a:t>SQL </a:t>
            </a:r>
            <a:r>
              <a:rPr lang="fr-FR" sz="2600" dirty="0" err="1"/>
              <a:t>queries</a:t>
            </a:r>
            <a:r>
              <a:rPr lang="fr-FR" sz="2600" dirty="0"/>
              <a:t>, API </a:t>
            </a:r>
            <a:r>
              <a:rPr lang="fr-FR" sz="2600" dirty="0" err="1"/>
              <a:t>requests</a:t>
            </a:r>
            <a:r>
              <a:rPr lang="fr-FR" sz="2600" dirty="0"/>
              <a:t>, UI components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6540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696F-4322-59E9-E9BA-B5AE1553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E7C6-3DCB-EBEF-F9E2-58230E89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84908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</a:rPr>
              <a:t>Adapter Pattern 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45FDB-A0D0-3689-95CB-20438507B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7430"/>
            <a:ext cx="9144000" cy="452845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The Adapter Pattern is a structural design pattern that allows the interface of an existing class (the "</a:t>
            </a:r>
            <a:r>
              <a:rPr lang="en-US" dirty="0" err="1"/>
              <a:t>Adaptee</a:t>
            </a:r>
            <a:r>
              <a:rPr lang="en-US" dirty="0"/>
              <a:t>") to be used as another interface (the "Target") that the client expects.</a:t>
            </a:r>
          </a:p>
          <a:p>
            <a:pPr algn="l"/>
            <a:r>
              <a:rPr lang="en-US" sz="1800" dirty="0"/>
              <a:t>Used in payment API wrapping, XML‑JSON conversion.</a:t>
            </a:r>
          </a:p>
          <a:p>
            <a:pPr algn="l"/>
            <a:r>
              <a:rPr lang="en-US" sz="2800" dirty="0"/>
              <a:t>Behavioral Pattern </a:t>
            </a:r>
          </a:p>
          <a:p>
            <a:pPr algn="l"/>
            <a:r>
              <a:rPr lang="en-US" sz="1800" dirty="0"/>
              <a:t>Explanation: One object updates automatically when another object changes.</a:t>
            </a:r>
            <a:br>
              <a:rPr lang="en-US" sz="1800" dirty="0"/>
            </a:br>
            <a:r>
              <a:rPr lang="en-US" sz="1800" dirty="0"/>
              <a:t>Real-life use case: Facebook notifications — when someone comments, all subscribers get updates.</a:t>
            </a:r>
          </a:p>
          <a:p>
            <a:pPr algn="l"/>
            <a:r>
              <a:rPr lang="en-US" sz="2800" dirty="0"/>
              <a:t>Command Pattern</a:t>
            </a:r>
          </a:p>
          <a:p>
            <a:pPr algn="l"/>
            <a:r>
              <a:rPr lang="en-US" sz="1800" dirty="0"/>
              <a:t>Explanation: Encapsulates a request as an object so it can be stored, undone, or queued.</a:t>
            </a:r>
            <a:br>
              <a:rPr lang="en-US" sz="1800" dirty="0"/>
            </a:br>
            <a:r>
              <a:rPr lang="en-US" sz="1800" dirty="0"/>
              <a:t>Real-life use case: Undo/Redo buttons in MS Word or Photoshop.</a:t>
            </a:r>
          </a:p>
          <a:p>
            <a:pPr algn="l"/>
            <a:endParaRPr lang="en-US" sz="2100" dirty="0"/>
          </a:p>
          <a:p>
            <a:pPr algn="l"/>
            <a:endParaRPr lang="en-US" sz="2100" dirty="0"/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2658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CE89-05C5-925D-C19B-58FD6129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9C98-4A7C-B94B-0043-048437D36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348344"/>
            <a:ext cx="4572000" cy="84908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</a:rPr>
              <a:t>Strategy Pattern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0798F-0E70-4D80-E25C-B1D7D2241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286" y="1469571"/>
            <a:ext cx="8980714" cy="370114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5400" dirty="0"/>
              <a:t>Defines interchangeable algorithms</a:t>
            </a:r>
          </a:p>
          <a:p>
            <a:pPr algn="just"/>
            <a:endParaRPr lang="en-US" sz="5400" dirty="0"/>
          </a:p>
          <a:p>
            <a:pPr lvl="1" algn="just"/>
            <a:r>
              <a:rPr lang="en-US" sz="4200" dirty="0"/>
              <a:t>Used in sorting </a:t>
            </a:r>
            <a:r>
              <a:rPr lang="en-US" sz="3300" dirty="0"/>
              <a:t>[ascending and descending , A-Z], </a:t>
            </a:r>
            <a:r>
              <a:rPr lang="en-US" sz="5200" dirty="0"/>
              <a:t>validation</a:t>
            </a:r>
            <a:r>
              <a:rPr lang="en-US" sz="6000" dirty="0"/>
              <a:t> </a:t>
            </a:r>
            <a:r>
              <a:rPr lang="en-US" sz="3300" dirty="0"/>
              <a:t>[Checking correctness of data], </a:t>
            </a:r>
            <a:r>
              <a:rPr lang="en-US" sz="4700" dirty="0"/>
              <a:t>compression</a:t>
            </a:r>
            <a:r>
              <a:rPr lang="en-US" sz="6000" dirty="0"/>
              <a:t> </a:t>
            </a:r>
            <a:r>
              <a:rPr lang="en-US" sz="3800" dirty="0"/>
              <a:t>[Reducing file size to save space or send faster]</a:t>
            </a:r>
          </a:p>
        </p:txBody>
      </p:sp>
    </p:spTree>
    <p:extLst>
      <p:ext uri="{BB962C8B-B14F-4D97-AF65-F5344CB8AC3E}">
        <p14:creationId xmlns:p14="http://schemas.microsoft.com/office/powerpoint/2010/main" val="320067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06E87-99FA-3CD2-3995-BA0A429F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80D1-3408-A09E-E0F3-7F822BD46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849086"/>
          </a:xfrm>
        </p:spPr>
        <p:txBody>
          <a:bodyPr>
            <a:normAutofit/>
          </a:bodyPr>
          <a:lstStyle/>
          <a:p>
            <a:r>
              <a:rPr lang="en-US" sz="4400" dirty="0"/>
              <a:t>ERD (Entity–Relationship Diagram)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67107-5367-47F2-FA93-3E4F7DFB7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69571"/>
            <a:ext cx="9144000" cy="370114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An ERD is a graphical design that shows a database’s Entities, Attributes, and their Relationships.</a:t>
            </a:r>
            <a:endParaRPr lang="en-US" sz="2000" dirty="0"/>
          </a:p>
          <a:p>
            <a:pPr algn="l"/>
            <a:r>
              <a:rPr lang="en-US" sz="2000" dirty="0"/>
              <a:t>3 main components of ERD:</a:t>
            </a:r>
          </a:p>
          <a:p>
            <a:pPr algn="l"/>
            <a:r>
              <a:rPr lang="en-US" sz="2000" b="1" dirty="0"/>
              <a:t>Entity</a:t>
            </a:r>
            <a:r>
              <a:rPr lang="en-US" sz="2000" dirty="0"/>
              <a:t> – the object or subject about which data is stored</a:t>
            </a:r>
            <a:br>
              <a:rPr lang="en-US" sz="2000" dirty="0"/>
            </a:br>
            <a:r>
              <a:rPr lang="en-US" sz="2000" b="1" dirty="0"/>
              <a:t>Example:</a:t>
            </a:r>
            <a:r>
              <a:rPr lang="en-US" sz="2000" dirty="0"/>
              <a:t> Student, Teacher, Course, Order</a:t>
            </a:r>
          </a:p>
          <a:p>
            <a:pPr algn="l"/>
            <a:r>
              <a:rPr lang="en-US" sz="2000" b="1" dirty="0"/>
              <a:t>Attribute</a:t>
            </a:r>
            <a:r>
              <a:rPr lang="en-US" sz="2000" dirty="0"/>
              <a:t> – characteristics of an entity</a:t>
            </a:r>
            <a:br>
              <a:rPr lang="en-US" sz="2000" dirty="0"/>
            </a:br>
            <a:r>
              <a:rPr lang="en-US" sz="2000" b="1" dirty="0"/>
              <a:t>Example:</a:t>
            </a:r>
            <a:r>
              <a:rPr lang="en-US" sz="2000" dirty="0"/>
              <a:t> </a:t>
            </a:r>
            <a:r>
              <a:rPr lang="en-US" sz="2000" dirty="0" err="1"/>
              <a:t>StudentID</a:t>
            </a:r>
            <a:r>
              <a:rPr lang="en-US" sz="2000" dirty="0"/>
              <a:t>, Name, Phone, Email</a:t>
            </a:r>
          </a:p>
          <a:p>
            <a:pPr algn="l"/>
            <a:r>
              <a:rPr lang="en-US" sz="2000" b="1" dirty="0"/>
              <a:t>Relationship</a:t>
            </a:r>
            <a:r>
              <a:rPr lang="en-US" sz="2000" dirty="0"/>
              <a:t> – the association between entities</a:t>
            </a:r>
            <a:br>
              <a:rPr lang="en-US" sz="2000" dirty="0"/>
            </a:br>
            <a:r>
              <a:rPr lang="en-US" sz="2000" b="1" dirty="0"/>
              <a:t>Example:</a:t>
            </a:r>
            <a:r>
              <a:rPr lang="en-US" sz="2000" dirty="0"/>
              <a:t> Student enrolls in Course, Customer places Order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641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1EF6-108A-4BD0-1F2B-8D2C2AAD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2E8A-49E7-0626-B768-F0DF08E6B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849086"/>
          </a:xfrm>
        </p:spPr>
        <p:txBody>
          <a:bodyPr>
            <a:normAutofit/>
          </a:bodyPr>
          <a:lstStyle/>
          <a:p>
            <a:r>
              <a:rPr lang="en-US" sz="4400" dirty="0"/>
              <a:t>Real-life Use Case (ERD)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D0FED-E1E4-F02D-06CB-8FD4513F1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69571"/>
            <a:ext cx="9144000" cy="520337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E-commerce Website Example:</a:t>
            </a:r>
          </a:p>
          <a:p>
            <a:pPr algn="l"/>
            <a:r>
              <a:rPr lang="en-US" dirty="0"/>
              <a:t>3 main components of ERD:</a:t>
            </a:r>
          </a:p>
          <a:p>
            <a:pPr algn="l"/>
            <a:r>
              <a:rPr lang="en-US" dirty="0"/>
              <a:t>Entities: </a:t>
            </a:r>
          </a:p>
          <a:p>
            <a:pPr algn="l"/>
            <a:r>
              <a:rPr lang="en-US" dirty="0"/>
              <a:t>Customer,</a:t>
            </a:r>
          </a:p>
          <a:p>
            <a:pPr algn="l"/>
            <a:r>
              <a:rPr lang="en-US" dirty="0"/>
              <a:t>Product, </a:t>
            </a:r>
          </a:p>
          <a:p>
            <a:pPr algn="l"/>
            <a:r>
              <a:rPr lang="en-US" dirty="0"/>
              <a:t>Order</a:t>
            </a:r>
          </a:p>
          <a:p>
            <a:pPr algn="l"/>
            <a:r>
              <a:rPr lang="en-US" dirty="0"/>
              <a:t>Relationships:</a:t>
            </a:r>
          </a:p>
          <a:p>
            <a:pPr algn="l"/>
            <a:r>
              <a:rPr lang="en-US" dirty="0"/>
              <a:t>Order has a Payment,</a:t>
            </a:r>
          </a:p>
          <a:p>
            <a:pPr algn="l"/>
            <a:r>
              <a:rPr lang="en-US" dirty="0"/>
              <a:t>Order contains Product,</a:t>
            </a:r>
          </a:p>
          <a:p>
            <a:pPr algn="l"/>
            <a:r>
              <a:rPr lang="en-US" dirty="0"/>
              <a:t>Customer places Order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098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43BB-4770-F165-570B-DF751BCC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E547-92D8-9012-D7C9-97AD8232A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849086"/>
          </a:xfrm>
        </p:spPr>
        <p:txBody>
          <a:bodyPr>
            <a:normAutofit/>
          </a:bodyPr>
          <a:lstStyle/>
          <a:p>
            <a:r>
              <a:rPr lang="en-US" sz="3600" b="1" dirty="0"/>
              <a:t>Types of Attributes (ERD Attributes)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1CCA3-364F-D3D6-C35C-BFEE58F07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69571"/>
            <a:ext cx="9144000" cy="520337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Simple Attribute</a:t>
            </a:r>
            <a:r>
              <a:rPr lang="en-US" dirty="0"/>
              <a:t> – Cannot be broken; single value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Name, Age, </a:t>
            </a:r>
          </a:p>
          <a:p>
            <a:pPr algn="l"/>
            <a:r>
              <a:rPr lang="en-US" b="1" dirty="0"/>
              <a:t>Composite Attribute</a:t>
            </a:r>
            <a:r>
              <a:rPr lang="en-US" dirty="0"/>
              <a:t> – Can be broken into multiple parts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Address → (Street, City, ZIP)</a:t>
            </a:r>
          </a:p>
          <a:p>
            <a:pPr algn="l"/>
            <a:r>
              <a:rPr lang="en-US" b="1" dirty="0"/>
              <a:t>Single-valued Attribute</a:t>
            </a:r>
            <a:r>
              <a:rPr lang="en-US" dirty="0"/>
              <a:t> – Only one value per entity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NID Number, </a:t>
            </a:r>
            <a:r>
              <a:rPr lang="en-US" dirty="0" err="1"/>
              <a:t>StudentID</a:t>
            </a:r>
            <a:endParaRPr lang="en-US" b="1" dirty="0"/>
          </a:p>
          <a:p>
            <a:pPr algn="l"/>
            <a:r>
              <a:rPr lang="en-US" b="1" dirty="0"/>
              <a:t>Multi-valued Attribute</a:t>
            </a:r>
            <a:r>
              <a:rPr lang="en-US" dirty="0"/>
              <a:t> – An entity may have multiple values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A person may have multiple phone numbers → Phone {Phone1, Phone2}</a:t>
            </a:r>
            <a:endParaRPr lang="en-US" b="1" dirty="0"/>
          </a:p>
          <a:p>
            <a:pPr algn="l"/>
            <a:r>
              <a:rPr lang="en-US" b="1" dirty="0"/>
              <a:t>Derived Attribute</a:t>
            </a:r>
            <a:r>
              <a:rPr lang="en-US" dirty="0"/>
              <a:t> – Calculated from other attributes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Age = </a:t>
            </a:r>
            <a:r>
              <a:rPr lang="en-US" dirty="0" err="1"/>
              <a:t>CurrentYear</a:t>
            </a:r>
            <a:r>
              <a:rPr lang="en-US" dirty="0"/>
              <a:t> – </a:t>
            </a:r>
            <a:r>
              <a:rPr lang="en-US" dirty="0" err="1"/>
              <a:t>BirthYear</a:t>
            </a:r>
            <a:endParaRPr lang="en-US" b="1" dirty="0"/>
          </a:p>
          <a:p>
            <a:pPr algn="l"/>
            <a:r>
              <a:rPr lang="en-US" b="1" dirty="0"/>
              <a:t>Key Attribute</a:t>
            </a:r>
            <a:r>
              <a:rPr lang="en-US" dirty="0"/>
              <a:t> – Used to uniquely identify a record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dirty="0" err="1"/>
              <a:t>EmployeeID</a:t>
            </a:r>
            <a:r>
              <a:rPr lang="en-US" dirty="0"/>
              <a:t>, </a:t>
            </a:r>
            <a:r>
              <a:rPr lang="en-US" dirty="0" err="1"/>
              <a:t>StudentRoll</a:t>
            </a:r>
            <a:r>
              <a:rPr lang="en-US" dirty="0"/>
              <a:t>, </a:t>
            </a:r>
            <a:r>
              <a:rPr lang="en-US" dirty="0" err="1"/>
              <a:t>ProductID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386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E4AA-4FA6-52A1-AE8C-86B52970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5507-6A49-3F18-A419-2C27BD221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696685"/>
          </a:xfrm>
        </p:spPr>
        <p:txBody>
          <a:bodyPr>
            <a:noAutofit/>
          </a:bodyPr>
          <a:lstStyle/>
          <a:p>
            <a:pPr algn="l"/>
            <a:r>
              <a:rPr lang="en-US" sz="3600" dirty="0"/>
              <a:t>Normalization &amp; Use Case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C09DC-4D8F-DD63-42C7-DCB27D936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7431"/>
            <a:ext cx="8218714" cy="359228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Normalization</a:t>
            </a:r>
            <a:r>
              <a:rPr lang="en-US" dirty="0"/>
              <a:t> is a database design process where large and unorganized tables are divided into smaller, well-structured, and related tables</a:t>
            </a:r>
          </a:p>
          <a:p>
            <a:pPr algn="l"/>
            <a:r>
              <a:rPr lang="en-US" dirty="0"/>
              <a:t>1. to </a:t>
            </a:r>
            <a:r>
              <a:rPr lang="en-US" b="1" dirty="0"/>
              <a:t>avoid data duplication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2. </a:t>
            </a:r>
            <a:r>
              <a:rPr lang="en-US" b="1" dirty="0"/>
              <a:t>reduce inconsistency</a:t>
            </a:r>
            <a:r>
              <a:rPr lang="en-US" dirty="0"/>
              <a:t>, and</a:t>
            </a:r>
            <a:br>
              <a:rPr lang="en-US" dirty="0"/>
            </a:br>
            <a:r>
              <a:rPr lang="en-US" dirty="0"/>
              <a:t>3. </a:t>
            </a:r>
            <a:r>
              <a:rPr lang="en-US" b="1" dirty="0"/>
              <a:t>keep the database clean and easy to maintain</a:t>
            </a:r>
            <a:r>
              <a:rPr lang="en-US" dirty="0"/>
              <a:t>.</a:t>
            </a:r>
          </a:p>
          <a:p>
            <a:pPr algn="l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Small Example (Problem): </a:t>
            </a:r>
          </a:p>
          <a:p>
            <a:pPr marL="342900" indent="-342900" algn="l">
              <a:buAutoNum type="arabicPeriod"/>
            </a:pPr>
            <a:endParaRPr lang="en-US" b="1" dirty="0"/>
          </a:p>
          <a:p>
            <a:pPr algn="l"/>
            <a:r>
              <a:rPr lang="en-US" b="1" dirty="0" err="1"/>
              <a:t>df</a:t>
            </a:r>
            <a:endParaRPr 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18BB4B-AA55-35E0-F716-485FF9F1F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32007"/>
              </p:ext>
            </p:extLst>
          </p:nvPr>
        </p:nvGraphicFramePr>
        <p:xfrm>
          <a:off x="1524000" y="3203666"/>
          <a:ext cx="779780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943">
                  <a:extLst>
                    <a:ext uri="{9D8B030D-6E8A-4147-A177-3AD203B41FA5}">
                      <a16:colId xmlns:a16="http://schemas.microsoft.com/office/drawing/2014/main" val="439567697"/>
                    </a:ext>
                  </a:extLst>
                </a:gridCol>
                <a:gridCol w="1941286">
                  <a:extLst>
                    <a:ext uri="{9D8B030D-6E8A-4147-A177-3AD203B41FA5}">
                      <a16:colId xmlns:a16="http://schemas.microsoft.com/office/drawing/2014/main" val="1270239284"/>
                    </a:ext>
                  </a:extLst>
                </a:gridCol>
                <a:gridCol w="1941286">
                  <a:extLst>
                    <a:ext uri="{9D8B030D-6E8A-4147-A177-3AD203B41FA5}">
                      <a16:colId xmlns:a16="http://schemas.microsoft.com/office/drawing/2014/main" val="3470985663"/>
                    </a:ext>
                  </a:extLst>
                </a:gridCol>
                <a:gridCol w="1941286">
                  <a:extLst>
                    <a:ext uri="{9D8B030D-6E8A-4147-A177-3AD203B41FA5}">
                      <a16:colId xmlns:a16="http://schemas.microsoft.com/office/drawing/2014/main" val="4091254836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35618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Rahim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Mr.Ali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5622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Mr.Ali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05956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Tawfiq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496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9ECB85-8AA2-CFA9-B12F-B587E671CF3A}"/>
              </a:ext>
            </a:extLst>
          </p:cNvPr>
          <p:cNvSpPr txBox="1"/>
          <p:nvPr/>
        </p:nvSpPr>
        <p:spPr>
          <a:xfrm>
            <a:off x="1415143" y="4819108"/>
            <a:ext cx="763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After Normalization (Solution)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19238A8-2199-CA7B-78D0-110E34665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94201"/>
              </p:ext>
            </p:extLst>
          </p:nvPr>
        </p:nvGraphicFramePr>
        <p:xfrm>
          <a:off x="1524000" y="5311449"/>
          <a:ext cx="77978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316">
                  <a:extLst>
                    <a:ext uri="{9D8B030D-6E8A-4147-A177-3AD203B41FA5}">
                      <a16:colId xmlns:a16="http://schemas.microsoft.com/office/drawing/2014/main" val="3843011036"/>
                    </a:ext>
                  </a:extLst>
                </a:gridCol>
                <a:gridCol w="3930485">
                  <a:extLst>
                    <a:ext uri="{9D8B030D-6E8A-4147-A177-3AD203B41FA5}">
                      <a16:colId xmlns:a16="http://schemas.microsoft.com/office/drawing/2014/main" val="966965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Rahim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7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samim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83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47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7F70-FEE2-D665-80D4-8448A079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CE25-91AE-CC4C-353C-0F1FE1D48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696685"/>
          </a:xfrm>
        </p:spPr>
        <p:txBody>
          <a:bodyPr>
            <a:noAutofit/>
          </a:bodyPr>
          <a:lstStyle/>
          <a:p>
            <a:pPr algn="l"/>
            <a:r>
              <a:rPr lang="en-US" sz="3600" dirty="0"/>
              <a:t>Normalization &amp; Use Case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867CD-E837-CFC2-C32E-448D2D60C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97431"/>
            <a:ext cx="8218715" cy="109728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Course Table: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EEF185-91C7-F447-4D84-D726F8DEC311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643048"/>
          <a:ext cx="82187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24">
                  <a:extLst>
                    <a:ext uri="{9D8B030D-6E8A-4147-A177-3AD203B41FA5}">
                      <a16:colId xmlns:a16="http://schemas.microsoft.com/office/drawing/2014/main" val="439567697"/>
                    </a:ext>
                  </a:extLst>
                </a:gridCol>
                <a:gridCol w="2724295">
                  <a:extLst>
                    <a:ext uri="{9D8B030D-6E8A-4147-A177-3AD203B41FA5}">
                      <a16:colId xmlns:a16="http://schemas.microsoft.com/office/drawing/2014/main" val="3470985663"/>
                    </a:ext>
                  </a:extLst>
                </a:gridCol>
                <a:gridCol w="2724295">
                  <a:extLst>
                    <a:ext uri="{9D8B030D-6E8A-4147-A177-3AD203B41FA5}">
                      <a16:colId xmlns:a16="http://schemas.microsoft.com/office/drawing/2014/main" val="4091254836"/>
                    </a:ext>
                  </a:extLst>
                </a:gridCol>
              </a:tblGrid>
              <a:tr h="332014">
                <a:tc>
                  <a:txBody>
                    <a:bodyPr/>
                    <a:lstStyle/>
                    <a:p>
                      <a:r>
                        <a:rPr lang="en-US" dirty="0" err="1"/>
                        <a:t>CourseID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356188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Mr.Ali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56224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0595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798865-E137-3AF7-13E3-27B967DA9699}"/>
              </a:ext>
            </a:extLst>
          </p:cNvPr>
          <p:cNvSpPr txBox="1"/>
          <p:nvPr/>
        </p:nvSpPr>
        <p:spPr>
          <a:xfrm>
            <a:off x="1404258" y="2816613"/>
            <a:ext cx="763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Enrollment Table :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B7E5317-A145-BF51-0021-7CD3367530FB}"/>
              </a:ext>
            </a:extLst>
          </p:cNvPr>
          <p:cNvGraphicFramePr>
            <a:graphicFrameLocks noGrp="1"/>
          </p:cNvGraphicFramePr>
          <p:nvPr/>
        </p:nvGraphicFramePr>
        <p:xfrm>
          <a:off x="1491341" y="3262230"/>
          <a:ext cx="825137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2265">
                  <a:extLst>
                    <a:ext uri="{9D8B030D-6E8A-4147-A177-3AD203B41FA5}">
                      <a16:colId xmlns:a16="http://schemas.microsoft.com/office/drawing/2014/main" val="3843011036"/>
                    </a:ext>
                  </a:extLst>
                </a:gridCol>
                <a:gridCol w="4159108">
                  <a:extLst>
                    <a:ext uri="{9D8B030D-6E8A-4147-A177-3AD203B41FA5}">
                      <a16:colId xmlns:a16="http://schemas.microsoft.com/office/drawing/2014/main" val="966965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7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83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9583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5798EC-5EBD-B106-878B-3C45522F19C1}"/>
              </a:ext>
            </a:extLst>
          </p:cNvPr>
          <p:cNvSpPr txBox="1"/>
          <p:nvPr/>
        </p:nvSpPr>
        <p:spPr>
          <a:xfrm>
            <a:off x="1491341" y="5116286"/>
            <a:ext cx="17812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is clean</a:t>
            </a:r>
            <a:br>
              <a:rPr lang="en-US" dirty="0"/>
            </a:br>
            <a:r>
              <a:rPr lang="en-US" dirty="0"/>
              <a:t>Easy to update</a:t>
            </a:r>
            <a:br>
              <a:rPr lang="en-US" dirty="0"/>
            </a:br>
            <a:r>
              <a:rPr lang="en-US" dirty="0"/>
              <a:t>No redundancy</a:t>
            </a:r>
          </a:p>
        </p:txBody>
      </p:sp>
    </p:spTree>
    <p:extLst>
      <p:ext uri="{BB962C8B-B14F-4D97-AF65-F5344CB8AC3E}">
        <p14:creationId xmlns:p14="http://schemas.microsoft.com/office/powerpoint/2010/main" val="402923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102-96BB-4B82-4484-CC994949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26A4-AEB2-73FE-6DA4-05E577551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4"/>
            <a:ext cx="8958943" cy="696685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Normalization Needed in Real-Life Software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9E6DC-CF61-0E16-3E79-2F8E4398A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97431"/>
            <a:ext cx="8218715" cy="109728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7200" b="1" dirty="0"/>
              <a:t>1.Banking Software</a:t>
            </a:r>
          </a:p>
          <a:p>
            <a:pPr algn="l"/>
            <a:r>
              <a:rPr lang="en-US" sz="7200" dirty="0"/>
              <a:t>Customer information in one table</a:t>
            </a:r>
          </a:p>
          <a:p>
            <a:pPr algn="l"/>
            <a:r>
              <a:rPr lang="en-US" sz="7200" dirty="0"/>
              <a:t>Account information in another</a:t>
            </a:r>
          </a:p>
          <a:p>
            <a:pPr algn="l"/>
            <a:r>
              <a:rPr lang="en-US" sz="7200" dirty="0"/>
              <a:t>Transactions in a separate table</a:t>
            </a:r>
          </a:p>
          <a:p>
            <a:pPr algn="l"/>
            <a:endParaRPr lang="en-US" sz="9600" dirty="0"/>
          </a:p>
          <a:p>
            <a:pPr algn="l"/>
            <a:r>
              <a:rPr lang="en-US" sz="6400" b="1" dirty="0"/>
              <a:t>2.Hospital Management System</a:t>
            </a:r>
          </a:p>
          <a:p>
            <a:pPr algn="l"/>
            <a:r>
              <a:rPr lang="en-US" sz="6400" dirty="0"/>
              <a:t>Patient table</a:t>
            </a:r>
          </a:p>
          <a:p>
            <a:pPr algn="l"/>
            <a:r>
              <a:rPr lang="en-US" sz="6400" dirty="0"/>
              <a:t>Doctor table</a:t>
            </a:r>
          </a:p>
          <a:p>
            <a:pPr algn="l"/>
            <a:r>
              <a:rPr lang="en-US" sz="6400" dirty="0"/>
              <a:t>Appointment table</a:t>
            </a:r>
          </a:p>
          <a:p>
            <a:pPr algn="ctr"/>
            <a:r>
              <a:rPr lang="en-US" sz="9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Happens If We Do NOT Use Normalization?</a:t>
            </a:r>
            <a:endParaRPr lang="en-US" sz="9600" b="1" dirty="0"/>
          </a:p>
          <a:p>
            <a:pPr algn="l"/>
            <a:r>
              <a:rPr lang="en-US" sz="4400" dirty="0"/>
              <a:t>Data duplication</a:t>
            </a:r>
          </a:p>
          <a:p>
            <a:pPr algn="l"/>
            <a:br>
              <a:rPr lang="en-US" sz="4400" dirty="0"/>
            </a:br>
            <a:r>
              <a:rPr lang="en-US" sz="4400" dirty="0"/>
              <a:t> Update anomalies</a:t>
            </a:r>
          </a:p>
          <a:p>
            <a:pPr algn="l"/>
            <a:br>
              <a:rPr lang="en-US" sz="4400" dirty="0"/>
            </a:br>
            <a:r>
              <a:rPr lang="en-US" sz="4400" dirty="0"/>
              <a:t> Wasted storage</a:t>
            </a:r>
          </a:p>
          <a:p>
            <a:pPr algn="l"/>
            <a:br>
              <a:rPr lang="en-US" sz="4400" dirty="0"/>
            </a:br>
            <a:r>
              <a:rPr lang="en-US" sz="4400" dirty="0"/>
              <a:t> Data inconsistency</a:t>
            </a:r>
          </a:p>
          <a:p>
            <a:pPr algn="l"/>
            <a:br>
              <a:rPr lang="en-US" sz="4400" dirty="0"/>
            </a:br>
            <a:r>
              <a:rPr lang="en-US" sz="4400" dirty="0"/>
              <a:t> Slow and error-prone software</a:t>
            </a:r>
          </a:p>
          <a:p>
            <a:pPr algn="l"/>
            <a:endParaRPr lang="en-US" sz="6400" dirty="0"/>
          </a:p>
          <a:p>
            <a:pPr algn="l"/>
            <a:endParaRPr lang="en-US" sz="11200" dirty="0"/>
          </a:p>
          <a:p>
            <a:pPr algn="l"/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661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951</TotalTime>
  <Words>776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Google Sans Flex</vt:lpstr>
      <vt:lpstr>Trebuchet MS</vt:lpstr>
      <vt:lpstr>Wingdings 3</vt:lpstr>
      <vt:lpstr>Facet</vt:lpstr>
      <vt:lpstr>Design Pattern in OOPs   </vt:lpstr>
      <vt:lpstr>A. Singleton Pattern </vt:lpstr>
      <vt:lpstr> Factory Pattern </vt:lpstr>
      <vt:lpstr>Builder Pattern </vt:lpstr>
      <vt:lpstr>Adapter Pattern </vt:lpstr>
      <vt:lpstr>Strategy Pattern </vt:lpstr>
      <vt:lpstr>ERD (Entity–Relationship Diagram)</vt:lpstr>
      <vt:lpstr>Real-life Use Case (ERD)</vt:lpstr>
      <vt:lpstr>Types of Attributes (ERD Attributes)</vt:lpstr>
      <vt:lpstr>Normalization &amp; Use Case</vt:lpstr>
      <vt:lpstr>Normalization &amp; Use Case</vt:lpstr>
      <vt:lpstr>Normalization Needed in Real-Life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11</cp:revision>
  <dcterms:created xsi:type="dcterms:W3CDTF">2025-12-10T08:47:07Z</dcterms:created>
  <dcterms:modified xsi:type="dcterms:W3CDTF">2025-12-16T10:23:41Z</dcterms:modified>
</cp:coreProperties>
</file>